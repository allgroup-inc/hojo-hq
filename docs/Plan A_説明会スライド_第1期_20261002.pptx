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2ae38409-afb2-d49b-52be-f3e470fab17c}">
          <p14:sldIdLst>
            <p14:sldId id="256"/>
            <p14:sldId id="257"/>
          </p14:sldIdLst>
        </p14:section>
        <p14:section name="仕組み" id="{e8c691c3-b621-02ef-f207-6ff0a62e2b4f}">
          <p14:sldIdLst>
            <p14:sldId id="258"/>
            <p14:sldId id="259"/>
            <p14:sldId id="260"/>
          </p14:sldIdLst>
        </p14:section>
        <p14:section name="費用と守り" id="{0a1e8539-088f-f01a-99ad-b754ee4e6779}">
          <p14:sldIdLst>
            <p14:sldId id="261"/>
            <p14:sldId id="262"/>
            <p14:sldId id="263"/>
          </p14:sldIdLst>
        </p14:section>
        <p14:section name="違いと限界" id="{05c78986-2304-3621-5d0e-a120634a8376}">
          <p14:sldIdLst>
            <p14:sldId id="264"/>
            <p14:sldId id="265"/>
          </p14:sldIdLst>
        </p14:section>
        <p14:section name="募集と進め方" id="{a9f404a3-cb4f-bcd2-395d-88d6438e9bf2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30分の説明会。前半10分で仕組みと費用、中盤10分でできないことと募集条件、後半10分で質問。売上の約束は一切しない。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4つの柱を先に見せる。「できないこと」を話す時間を取ると最初に宣言する。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会場の生産者に当てはまるものを挙手で聞く。架空の人物名や事例は出さない。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「あなたのストア」とは言わない。規約上、店はGLOW名義で、生産者の販売許諾書をもとに掲載する。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「全部おまかせ」とは言わない。在庫・出荷・品質への質問回答は生産者の仕事。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4%の負担者は決裁待ち。決まるまで「どちらになるか決まり次第お伝えします」と言う。「3%だけ」と言い切らない(有利誤認)。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数字は日本法人公式サイトの表記のみ。年次報告の数字(4,900万・190超)とは混ぜない。「◯年◯月時点」は守り部・検証部が原文で照合してから入れる。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「認定」とは言わない。保護の主体は買い手。生産者側の利点は「買い手が安心して払える」「代金がAlibaba.com経由で流れる」こと。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無料支援を悪く言わない。展示会の費用相場は出所が入るまで口頭でも金額を言わない。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ここを飛ばさない。正直さが信用の芯。マンゴーなど生鮮の質問が出たら「国と品目で変わる。一緒に調べる」と答える。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募集数・開始月・返金条件は小柳さん決裁待ち。決まるまで口頭でも仮の数字を言わない。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1万円は「進める」と決めたあとに。相談・見積りの段階ではかからない。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個人事業主も参加できる(必要書類は案内)。県の無料支援や補助金とも一緒に使える。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QRは /go/plan-a-line/ への転送(イベント plan_a_line_redirect)。lin.ee を直接貼らない。LINEアカウント(専用か共用か)は決裁待ち。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Plan A 説明会(第1期) ｜ 株式会社GLOW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08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第1期 説明会 ｜ 沖縄の作り手向け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Plan A</a:t>
            </a:r>
            <a:endParaRPr lang="en-US" sz="7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1"/>
                </a:solidFill>
              </a:rPr>
              <a:t>沖縄の作り手の海外販路</a:t>
            </a:r>
            <a:endParaRPr lang="en-US" sz="2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翻訳・商談・通関・代金回収は、沖縄の会社GLOWが代わりに。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052560" y="2331720"/>
            <a:ext cx="2560320" cy="164592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GLOWロゴ" descr="/home/user/hojo-hq/site/assets/glow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606040"/>
            <a:ext cx="1828800" cy="10972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株式会社GLOW(沖縄)　2026年10月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今日の30分で分かること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Plan Aとは何か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あなたは何をしなくていいか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29000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20574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971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費用の全部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初期1万円・売れたとき3%・実費・手数料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20574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971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正直にできないこと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扱えない品目と、約束しないこと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89720" y="173736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64040" y="20574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6404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29718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次の一歩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LINEで写真を1枚送るところから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40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質問は、途中でもいつでもどうぞ。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「海外に売りたい。でも…」で止まっていませんか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“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5176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英語ができない。問い合わせが来ても返せない。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43400" y="164592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“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65176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「送ったのにお金が来ない」が怖い。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38160" y="164592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“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458200" y="265176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展示会や商社の話は、桁が違いすぎて現実的じゃない。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029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この3つに、順番にお答えします。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Plan Aとは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GLOWの店に、あなたの商品を掲載します。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海外の企業向けの取引サイト Alibaba.com 上にあるGLOWの店に、あなたからの販売許諾書をもとに掲載します。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買い手とのやりとりは、GLOWが日本語でお伝えします。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23317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翻訳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GLOWがやります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54680" y="3657600"/>
            <a:ext cx="23317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商談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4617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GLOWがやります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3657600"/>
            <a:ext cx="23317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通関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4617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GLOWがやります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3657600"/>
            <a:ext cx="233172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代金回収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4617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GLOWがやります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86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あなたは、日本語だけ。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あなたがすることは、2つだけ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9476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あなた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商品の写真・説明・希望価格を渡す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LINEで送るだけ。撮り方のコツは担当が案内します。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3017520"/>
            <a:ext cx="411480" cy="4572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60020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920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GLOW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6974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出店・翻訳・商談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通関・代金回収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9319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買い手とのやりとりは、日本語でお伝えします。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43800" y="3017520"/>
            <a:ext cx="411480" cy="4572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60020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874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194767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あなた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788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注文が決まったら、いつも通り出荷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840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海外向けの書類と手配はGLOWが行います。代金は日本円で受け取ります。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57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畑と工房は、そのまま。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費用の全部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1万円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初期費用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税込表記</a:t>
            </a:r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【要確認】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508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691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3%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売れたときだけ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成約した売上に対してだけ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508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1691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実費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送料・関税など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必ず事前に見積りを出します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89720" y="150876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18320" y="16916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4%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0" y="25603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取引保護手数料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29718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上限100米ドル。負担者: </a:t>
            </a:r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【要決裁】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8620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1万円は、何に使われるか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343400"/>
            <a:ext cx="541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商品ページの作成と翻訳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写真の調整・掲載作業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初回の価格設定の相談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33008" y="388620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3%は、何にかかるか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33008" y="4343400"/>
            <a:ext cx="5410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成約した売上に対してだけ。売れなければ0円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商談・書類・回収の手数料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送料・関税などの実費は別(事前に見積り)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出所: 取引保護手数料は Alibaba.com活用マニュアル b2b-manual.alibaba.co.jp/ta-09(日本企業の取引手数料: 支払金額の4%・上限100米ドル)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Alibaba.comとは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海外の企業どうしが売り買いする、世界規模のオンラインの取引サイトです。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5146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200以上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840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の国と地域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45352" y="2194560"/>
            <a:ext cx="5394960" cy="2377440"/>
          </a:xfrm>
          <a:prstGeom prst="roundRect">
            <a:avLst>
              <a:gd name="adj" fmla="val 46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11112" y="25146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</a:rPr>
              <a:t>4,000万超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3840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の登録バイヤー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54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出所: アリババ株式会社公式サイト b2b.alibaba.co.jp/service(</a:t>
            </a:r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◯年◯月時点【要確認】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GLOWはここに店を持ち、あなたの商品を掲載します。問い合わせは24時間、世界から届く可能性があります。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代金の守り ― 取引保護サービス(Trade Assurance)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海外の買い手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代金を支払う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96312" y="2194560"/>
            <a:ext cx="310896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160020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Alibaba.com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代金を預かる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82312" y="2194560"/>
            <a:ext cx="310896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160020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商品の受領を確認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検品期間の満了後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68312" y="2194560"/>
            <a:ext cx="310896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60020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4380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GLOW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代金を受け取る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54312" y="2194560"/>
            <a:ext cx="310896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0" y="160020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2980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あなた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2980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日本円で受け取る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3840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何が守られるか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2976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買い手が払った代金をAlibaba.comが預かり、商品の受領後に売り手側へ支払われる仕組みです。「送ったのにお金が来ない」を仕組みで防ぎます。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45352" y="361188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19672" y="3840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正直に: 限界もあります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42976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もともと買い手を守るための制度です。品質・納期のトラブルでは買い手が申し立て、返金・補償の対象になります。GLOWが代金を保証するものではありません。利用には手数料がかかります(前のページ)。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出所: Alibaba.com活用マニュアル b2b-manual.alibaba.co.jp/ta-01(仕組み)・ta-09(手数料)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無料の相談窓口と、何が違うのか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県やJETROの無料支援は心強い味方です。違いは「相談で終わらず、出店から代金回収までを代わりにやる」こと。</a:t>
            </a:r>
            <a:endParaRPr lang="en-US" sz="1400" dirty="0"/>
          </a:p>
        </p:txBody>
      </p:sp>
      <p:graphicFrame>
        <p:nvGraphicFramePr>
          <p:cNvPr id="10" name="比較表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2103120"/>
                <a:gridCol w="1737360"/>
                <a:gridCol w="1920240"/>
                <a:gridCol w="2221992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何もしない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県・JETROの無料支援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商社に預ける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海外展示会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Plan 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初期費用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0円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0円(相談まで)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条件次第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数十万円〜【要確認・出所】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1万円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売れたときの費用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仕切り値・マージン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売上の3%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自分でやること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出店・翻訳・商談は自分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商品を渡す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渡航・接客・通訳の手配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写真と情報を渡す。出荷する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言語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自分で対応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商社次第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通訳が必要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日本語だけ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代金の守り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自分で確認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商社の信用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自分で確認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取引保護の仕組みを利用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始められる時期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セミナー日程次第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先方次第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年1〜2回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随時(第1期募集中)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沖縄県の海外展開支援の補助金をPlan Aの費用に充てられるかも、一緒に調べます。補助金はGLOWの得意分野です。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正直に、できないこと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×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生鮮の果実・野菜の一部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相手国の植物検疫に通らないもの。品目・仕向国で可否が変わります。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8745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×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697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輸出が規制されている品目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520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法律や相手国の規制で、出せないものがあります。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8745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×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6974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成果(売上・受注数)の約束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5204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販路の提供と業務の代行です。売れることをお約束はできません。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向いているのは、黒糖・加工食品・調味料・泡盛・工芸品など、常温で日持ちするものです。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※ 品目・仕向国によっては輸出できない、または追加の手続きが必要な場合があります。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第1期の募集条件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94415" cy="6400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募集数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508760"/>
            <a:ext cx="8259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【要決裁】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社(商品を見てご相談のうえ決めます)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21992"/>
            <a:ext cx="11094415" cy="640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219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対象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221992"/>
            <a:ext cx="8259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沖縄県内で商品をつくる農業法人・個人農家・食品・工芸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11094415" cy="6400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93522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向く商品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935224"/>
            <a:ext cx="8259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黒糖・加工食品・調味料・泡盛・工芸品など、常温で日持ちするもの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11094415" cy="640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4845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費用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648456"/>
            <a:ext cx="8259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初期1万円(税込表記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【要確認】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)+成約売上の3%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361688"/>
            <a:ext cx="11094415" cy="6400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3616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開始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4361688"/>
            <a:ext cx="8259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【要決裁】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年 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【要決裁】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月から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074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やめたいとき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5074920"/>
            <a:ext cx="8259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いつでも掲載を止められます。初期費用の返金条件: </a:t>
            </a:r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【要決裁】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52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実績が出るまで「第1期募集」と正直にお伝えします。架空の事例はお見せしません。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進め方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965960" cy="3017520"/>
          </a:xfrm>
          <a:prstGeom prst="roundRect">
            <a:avLst>
              <a:gd name="adj" fmla="val 558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今日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8328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説明を聞く。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質問する。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32888" y="3017520"/>
            <a:ext cx="265176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1737360"/>
            <a:ext cx="1965960" cy="3017520"/>
          </a:xfrm>
          <a:prstGeom prst="roundRect">
            <a:avLst>
              <a:gd name="adj" fmla="val 5581"/>
            </a:avLst>
          </a:prstGeom>
          <a:solidFill>
            <a:schemeClr val="accent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44952" y="2011680"/>
            <a:ext cx="548640" cy="54864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44952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44952" y="2743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LINE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44952" y="338328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「海外」と送る。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担当が日本語で返事。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3017520"/>
            <a:ext cx="265176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4064" y="1737360"/>
            <a:ext cx="1965960" cy="3017520"/>
          </a:xfrm>
          <a:prstGeom prst="roundRect">
            <a:avLst>
              <a:gd name="adj" fmla="val 558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12664" y="20116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266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312664" y="2743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商品写真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312664" y="338328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写真を1枚送る。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撮り方のコツを案内。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68312" y="3017520"/>
            <a:ext cx="265176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51776" y="1737360"/>
            <a:ext cx="1965960" cy="3017520"/>
          </a:xfrm>
          <a:prstGeom prst="roundRect">
            <a:avLst>
              <a:gd name="adj" fmla="val 558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0376" y="20116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0376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580376" y="2743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掲載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580376" y="338328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GLOWが商品ページを作成・翻訳。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掲載前に内容を確認。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336024" y="3017520"/>
            <a:ext cx="265176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19488" y="1737360"/>
            <a:ext cx="1965960" cy="3017520"/>
          </a:xfrm>
          <a:prstGeom prst="roundRect">
            <a:avLst>
              <a:gd name="adj" fmla="val 558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48088" y="201168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4808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848088" y="2743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問い合わせ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848088" y="338328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買い手からの連絡を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日本語でお伝え。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0749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掲載までの目安: 写真と商品情報がそろってから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【要決裁】週間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。送るだけなら費用はかかりません。しつこい営業もしません。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よくある質問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904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17320"/>
            <a:ext cx="10454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1万円はいつ払いますか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2880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掲載内容を確認して「進める」と決めたあとに。相談・見積りの段階ではかかりません。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8658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313432"/>
            <a:ext cx="10454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売れなかったらどうなりますか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724912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3%の費用はかかりません。掲載の継続・停止はいつでも選べます。初期費用の返金条件は 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【要決裁】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209544"/>
            <a:ext cx="10454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英語は本当に不要ですか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21024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買い手とのやりとりはGLOWが日本語でお伝えします。確認したい内容だけ、日本語で返してください。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788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105656"/>
            <a:ext cx="10454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少量・小ロットでも大丈夫ですか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517136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はい。最低注文数は商品ごとに一緒に決めます。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001768"/>
            <a:ext cx="10454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送料・関税は誰が払いますか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413248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商品ごとに事前に見積りを出し、価格に含めるか別途にするかを一緒に決めます。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まずは、商品の写真を1枚送るところから。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LINEで「海外」と送ってください。担当が日本語で返事をします。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資料のお渡し・説明会の日程も、LINEの中でお知らせします。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4160520"/>
            <a:ext cx="4754880" cy="868680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160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LINEで「海外」と送る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無料・日本語　／　送るだけなら費用はかかりません。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95360" y="2697480"/>
            <a:ext cx="2743200" cy="2743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595360" y="26974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QRコード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(後で差し替え)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8978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※ 本サービスは販路の提供と業務の代行であり、売上や受注を保証するものではありません。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※ 品目・仕向国によっては輸出できない、または追加の手続きが必要な場合があります。　運営: 株式会社GLOW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 A GLOW">
  <a:themeElements>
    <a:clrScheme name="Plan A GLOW">
      <a:dk1>
        <a:srgbClr val="1F2933"/>
      </a:dk1>
      <a:lt1>
        <a:srgbClr val="FFFFFF"/>
      </a:lt1>
      <a:dk2>
        <a:srgbClr val="00335C"/>
      </a:dk2>
      <a:lt2>
        <a:srgbClr val="FFFBF4"/>
      </a:lt2>
      <a:accent1>
        <a:srgbClr val="F88800"/>
      </a:accent1>
      <a:accent2>
        <a:srgbClr val="B9502F"/>
      </a:accent2>
      <a:accent3>
        <a:srgbClr val="F2B705"/>
      </a:accent3>
      <a:accent4>
        <a:srgbClr val="00335C"/>
      </a:accent4>
      <a:accent5>
        <a:srgbClr val="5B6B7A"/>
      </a:accent5>
      <a:accent6>
        <a:srgbClr val="E7EEF5"/>
      </a:accent6>
      <a:hlink>
        <a:srgbClr val="00335C"/>
      </a:hlink>
      <a:folHlink>
        <a:srgbClr val="5B6B7A"/>
      </a:folHlink>
    </a:clrScheme>
    <a:fontScheme name="Plan A GLOW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A 説明会スライド(第1期)</dc:title>
  <dc:subject>沖縄の作り手の海外販路</dc:subject>
  <dc:creator>株式会社GLOW</dc:creator>
  <cp:lastModifiedBy>株式会社GLOW</cp:lastModifiedBy>
  <cp:revision>1</cp:revision>
  <dcterms:created xsi:type="dcterms:W3CDTF">2026-10-02T15:25:28Z</dcterms:created>
  <dcterms:modified xsi:type="dcterms:W3CDTF">2026-10-02T15:25:28Z</dcterms:modified>
</cp:coreProperties>
</file>