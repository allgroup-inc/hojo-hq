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沖縄M&amp;A市場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8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¥200B+ 市場への戦略的ポジショニング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383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補助金・融資ニーズから経営承継まで</a:t>
            </a:r>
            <a:endParaRPr lang="en-US" sz="16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沖縄企業を総合支援するGLOWの勝ち筋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沖縄M&amp;A市場の規模と構造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57600" cy="128016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¥200B+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推定年間M&amp;A市場規模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28016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15087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120-150件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年間推定成約数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（沖縄本島内）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00" cy="128016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沖縄県内経営者の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後継者不安率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926080"/>
            <a:ext cx="3657600" cy="128016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0632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全国平均との比較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（+17.3pp）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市場ギャップ：後継者不安74.5%に対し、実際のM&amp;A成約率は2-3%。72% の経営者が「相談したいが、どこに相談したら良いか分からない」という構造的課題が存在。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既存プレイヤーの限界と市場ギャップ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従来型M&amp;A企業の課題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大型案件志向：¥3B以上の大型案件に特化。小中企業（¥100M-1B）を見落とし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新規開拓能力の不足：紹介案件に依存（紹介率60-80%）。新規開拓は営業力不足で失敗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初期接触困難：経営者は「M&amp;A企業」の営業をブロック。信頼構築に数年要する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沖縄固有の課題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銀行・支援機関の限界：地元銀行は融資判断が主。M&amp;A仲介ノウハウなし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士業との連携不足：税理士・社労士は相続対策まで。事業承継・売却は専門外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経営者の認知不足：「事業売却＝失敗」という古い価値観が根強い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の3つの競争優位性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447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優位性1：保険事業による経営基盤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既存の保険委託事業で現在のコストが確保済み。新規開拓M&amp;A事業に純粋な利益として集中可能。競争企業は月2-5件の成約を必要とするが、GLOWは月1件の成約で収支分岐点に到達。資金効率は50-100倍。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163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優位性2：嶺井の34年沖縄開発金融公庫キャリア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沖縄県政策金融公庫で34年、数千社の沖縄企業と経営相談を重ねた実績。「嶺井さん」は経営者の信頼の象徴。初期接触時の面談実現率60-70%。既存データベースから優良企業への直接提案が可能。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879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優位性3：他社にないリスト管理マネジメント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262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県内企業データベースの精密な分析・セグメンテーション。年間30万件の公開データから沖縄関連企業を自動抽出・更新。後継者年齢・事業規模・収益性を組み合わせた成約確度の高いリストの継続供給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数値で示すGLOWの圧倒的優位性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収益化までの効率比較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002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874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57400" y="1828800"/>
            <a:ext cx="16002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7" name="Text 5"/>
          <p:cNvSpPr/>
          <p:nvPr/>
        </p:nvSpPr>
        <p:spPr>
          <a:xfrm>
            <a:off x="2103120" y="1874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16002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874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競争企業A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1828800"/>
            <a:ext cx="16002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187452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競争企業B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6712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損益分岐点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57400" y="2148840"/>
            <a:ext cx="16002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16712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月1件成約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0" y="214884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6712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月2-3件成約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57800" y="214884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16712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月4-5件成約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48716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投資回収期間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57400" y="2468880"/>
            <a:ext cx="16002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248716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18-24ヶ月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0" y="246888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48716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36-48ヶ月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246888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48716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48-60ヶ月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78892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80720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初期投資必要額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057400" y="2788920"/>
            <a:ext cx="16002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280720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¥18-27M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0" y="278892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03320" y="280720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¥360-540M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57800" y="278892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80720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¥600-864M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12724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ROI（3年目）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57400" y="3108960"/>
            <a:ext cx="16002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03120" y="312724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1000-1600%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310896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03320" y="312724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17-29%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57800" y="3108960"/>
            <a:ext cx="1600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127248"/>
            <a:ext cx="15087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営業効率の差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393192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4160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初期接触成功率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60-70% vs 競争企業 30-40%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嶺井ブランドによる2倍の優位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114800"/>
            <a:ext cx="393192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4160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最終成約率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4434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40-60% vs 市場平均 2-3%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段階的営業の仕組み化で20倍超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段階的M&amp;A営業ファネル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6段階カスタマージャーニー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認知・接触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補助金・融資情報提供→信頼構築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月間接触数：30-50社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初回相談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嶺井による経営状況ヒアリング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実現率：60-70%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933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ニーズ確認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65176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後継者・融資・売却ニーズを段階的に発掘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継続率：50-60%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提案・検討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スキーム・買い手候補の提示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提案受け入れ率：40-50%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83280" y="356616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DD・交渉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297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士業・銀行と連携した実務進行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成約まで進捗：60-80%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3566160"/>
            <a:ext cx="2743200" cy="146304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931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成約・クロージング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契約・手続完了。士業への送客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紹介手数料・クロス売上を創出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経営者心理と意思決定トリガー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後継者不安への段階的アプローチ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段階1：「心当たりがある」という認識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後継者不安は高いが、具体的行動に至っていない状態。補助金情報や融資相談を通じた経営サポートで、相談しやすい相手として認識される土台を作る。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86868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803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段階2：「誰かに相談したい」という欲求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嶺井との「経営相談」という非脅威的な接触を積み重ねることで、後継者問題の相談欲求が高まる。この段階での声かけが重要。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86868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404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段階3：「選択肢が欲しい」という動機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子息が経営に関心を示さない時、M&amp;A・融資・後継者育成の選択肢が急に魅力的に見える。このタイミングが成約率40-60%に跳ね上がる。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リスク評価と対策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重要リスク項目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1188720" cy="868680"/>
          </a:xfrm>
          <a:prstGeom prst="rect">
            <a:avLst/>
          </a:prstGeom>
          <a:solidFill>
            <a:srgbClr val="F8880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0574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市場成熟度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83080" y="19202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年間150件市場で複数企業が参入すると過当競争に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対策：小中企業層（¥100M-1B）に特化し差別化。嶺井の既存ネットワークで先制。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188720" cy="868680"/>
          </a:xfrm>
          <a:prstGeom prst="rect">
            <a:avLst/>
          </a:prstGeom>
          <a:solidFill>
            <a:srgbClr val="F8880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175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成約タイミング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28803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経営者の腹が決まるまで6-12ヶ月要する場合あり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329184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対策：早期接触・段階的信頼構築による準備期間を短縮。先行パイプライン構築。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1188720" cy="868680"/>
          </a:xfrm>
          <a:prstGeom prst="rect">
            <a:avLst/>
          </a:prstGeom>
          <a:solidFill>
            <a:srgbClr val="F8880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9776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チーム構築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38404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嶺井依存の営業体制では過負荷リスク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425196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対策：初接触に特化。DD・交渉は士業と分業。営業人材育成を2-3年計画で重視。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買い手市場の確保が成約実現の鍵。既存GLOW顧客の中から経営統合ニーズを発掘し、県外M&amp;A企業との提携による買い手紹介体制を構築。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業界別売上規模別営業戦略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36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医療・歯科（¥100M-500M）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470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後継者不安が最高峰。医学部進学者が診療所経営に不関心。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59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建設・土木（¥200M-2B）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67004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業績の波が大きく、融資ニーズとセット接触が可能。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飲食・小売（¥50M-300M）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9300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消費行動の経験不足から後継評価が低い傾向。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01168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農業・漁業（¥30M-200M）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3159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後継者不安が最も深刻。若年世代の業界離脱が加速。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0" y="1463040"/>
            <a:ext cx="5943600" cy="329184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60020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各業界の特性に応じた営業アプローチを構築：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医療：医師会経由の紹介。年1回検診で健康悪化を感知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建設：商工会議所経由。公共投資削減がトリガー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飲食：補助金サイト経由の信頼構築が有効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農業：農業委員会・JA経由。法人化モデルを提案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9ヶ月実行ロードマップ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50876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基礎構築期（8月-10月）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目標：リスト管理体制確立・初接触50社達成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94767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リスト管理システム整備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嶺井による初接触開始（月10-15社）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月間接触目標：30-50社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初回相談継続率目標：60-70%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974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関係構築加速期（11月-1月）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4436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目標：パイプライン形成・初成約実現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363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初接触企業の定期フォロー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嶺井による対面相談実施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買い手ネットワーク構築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最初の成約実現（1件達成が説得力を生む）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F0F4F8"/>
          </a:solidFill>
          <a:ln w="25400">
            <a:solidFill>
              <a:srgbClr val="F88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88620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成約加速期（2月-4月）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33088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目標：月間成約3-4件・累計25-59件達成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432511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成約企業の事例化・発信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二次営業人材の配置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士業・銀行との協業強化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月間成約目標：3-4件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財務予測と収益シナリオ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前提条件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平均成約金額：¥300M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成約手数料率：1.5-2.5% ⇒ 1件当たり ¥4.5M-7.5M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固定費月額：¥2M（給与・事務所・システム）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初期投資：¥18-27M（システム・人件費・インセンティブ）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12ヶ月間の収益シナリオ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20574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9718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2926080"/>
            <a:ext cx="20574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9" name="Text 7"/>
          <p:cNvSpPr/>
          <p:nvPr/>
        </p:nvSpPr>
        <p:spPr>
          <a:xfrm>
            <a:off x="2560320" y="29718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成約件数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20574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9718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手数料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29400" y="2926080"/>
            <a:ext cx="2057400" cy="320040"/>
          </a:xfrm>
          <a:prstGeom prst="rect">
            <a:avLst/>
          </a:prstGeom>
          <a:solidFill>
            <a:srgbClr val="00335C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29718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損益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6440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1-3ヶ月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3246120"/>
            <a:ext cx="20574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326440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24612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326440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0-¥7.5M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324612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26440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-¥18M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8444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4-6ヶ月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3566160"/>
            <a:ext cx="20574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358444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5661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58444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¥9-30M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356616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58444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-¥9～+¥10M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0448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7-12ヶ月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14600" y="3886200"/>
            <a:ext cx="2057400" cy="320040"/>
          </a:xfrm>
          <a:prstGeom prst="rect">
            <a:avLst/>
          </a:prstGeom>
          <a:solidFill>
            <a:srgbClr val="FFF9E6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90448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88620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90448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¥45-150M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3886200"/>
            <a:ext cx="20574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0F4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904488"/>
            <a:ext cx="1965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+¥36～+¥169.5M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FF9E6"/>
          </a:solidFill>
          <a:ln w="12700">
            <a:solidFill>
              <a:srgbClr val="F888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61772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収支分岐点：月2件成約で固定費をカバー。初期赤字は保険事業で容認可能。2年目は月4-5件成約で年間¥100M超の利益を見込む。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3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¥200B市場への挑戦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沖縄企業の後継者不安74.5%、市場規模¥200B+。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従来型M&amp;A企業が見落とした小中企業層に、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嶺井の34年の信頼と補助金・融資の導線から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段階的に接近。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保険事業による経営基盤、リスト管理による営業効率、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嶺井ブランドによる初期接触の勝率2倍。</a:t>
            </a: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endParaRPr lang="en-US" sz="16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9ヶ月で25-59件成約、月間3-4件に加速する実現可能な戦略。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3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実行を開始する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2026-08-16T23:14:34Z</dcterms:created>
  <dcterms:modified xsi:type="dcterms:W3CDTF">2026-08-16T23:14:34Z</dcterms:modified>
</cp:coreProperties>
</file>