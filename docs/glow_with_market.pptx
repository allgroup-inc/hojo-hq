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他社の営業施策</a:t>
            </a:r>
            <a:endParaRPr lang="en-US" sz="4800" dirty="0"/>
          </a:p>
          <a:p>
            <a:pPr algn="l"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がうまくいかない</a:t>
            </a:r>
            <a:endParaRPr lang="en-US" sz="4800" dirty="0"/>
          </a:p>
          <a:p>
            <a:pPr algn="l"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理由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029200" y="731520"/>
            <a:ext cx="0" cy="2743200"/>
          </a:xfrm>
          <a:prstGeom prst="line">
            <a:avLst/>
          </a:prstGeom>
          <a:noFill/>
          <a:ln w="1016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0" y="137160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GLOWの</a:t>
            </a:r>
            <a:endParaRPr lang="en-US" sz="4000" dirty="0"/>
          </a:p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解決策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沖縄県M&amp;A市場：巨大なギャップ市場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017520"/>
          </a:xfrm>
          <a:prstGeom prst="rect">
            <a:avLst/>
          </a:prstGeom>
          <a:solidFill>
            <a:srgbClr val="F5F5F5"/>
          </a:solidFill>
          <a:ln w="381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市場の課題</a:t>
            </a:r>
            <a:endParaRPr lang="en-US" sz="2000" dirty="0"/>
          </a:p>
          <a:p>
            <a:pPr algn="ctr" indent="0" marL="0">
              <a:lnSpc>
                <a:spcPts val="3200"/>
              </a:lnSpc>
              <a:buNone/>
            </a:pPr>
            <a:endParaRPr lang="en-US" sz="20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後継者不在率</a:t>
            </a:r>
            <a:endParaRPr lang="en-US" sz="20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65-70%</a:t>
            </a:r>
            <a:endParaRPr lang="en-US" sz="2000" dirty="0"/>
          </a:p>
          <a:p>
            <a:pPr algn="ctr" indent="0" marL="0">
              <a:lnSpc>
                <a:spcPts val="3200"/>
              </a:lnSpc>
              <a:buNone/>
            </a:pPr>
            <a:endParaRPr lang="en-US" sz="20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（全国平均より</a:t>
            </a:r>
            <a:endParaRPr lang="en-US" sz="20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12.5pt高い）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663440" y="2606040"/>
            <a:ext cx="731520" cy="0"/>
          </a:xfrm>
          <a:prstGeom prst="line">
            <a:avLst/>
          </a:prstGeom>
          <a:noFill/>
          <a:ln w="381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1097280"/>
            <a:ext cx="3657600" cy="3017520"/>
          </a:xfrm>
          <a:prstGeom prst="rect">
            <a:avLst/>
          </a:prstGeom>
          <a:solidFill>
            <a:srgbClr val="F5F5F5"/>
          </a:solidFill>
          <a:ln w="38100">
            <a:solidFill>
              <a:srgbClr val="0033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188720"/>
            <a:ext cx="32918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市場の機会</a:t>
            </a:r>
            <a:endParaRPr lang="en-US" sz="2000" dirty="0"/>
          </a:p>
          <a:p>
            <a:pPr algn="ctr" indent="0" marL="0">
              <a:lnSpc>
                <a:spcPts val="3200"/>
              </a:lnSpc>
              <a:buNone/>
            </a:pPr>
            <a:endParaRPr lang="en-US" sz="20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年間120-150件</a:t>
            </a:r>
            <a:endParaRPr lang="en-US" sz="20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のM&amp;A成約</a:t>
            </a:r>
            <a:endParaRPr lang="en-US" sz="2000" dirty="0"/>
          </a:p>
          <a:p>
            <a:pPr algn="ctr" indent="0" marL="0">
              <a:lnSpc>
                <a:spcPts val="3200"/>
              </a:lnSpc>
              <a:buNone/>
            </a:pPr>
            <a:endParaRPr lang="en-US" sz="20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（成長率+50%）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しかし、既存M&amp;A業者は小規模案件（1-5億円）を敬遠 → 成約が進まない「ギャップ市場」が存在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特に機会が大きい3業界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292608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医療・介護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医師平均年齢60.1歳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後継者不在66%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対象：診療所1,400+施設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29000" y="1097280"/>
            <a:ext cx="2560320" cy="292608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0033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建設業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11880" y="192024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業者5,539社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後継者不在が深刻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大型PJ参画ニーズ高い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097280"/>
            <a:ext cx="2560320" cy="292608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農業・畜産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経営者平均65.2歳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廃業加速前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今後1-2年が最後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他社がうまくいかない3つの理由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0058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単発のDM・直接提案のみ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反応率0.5%以下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M&amp;Aピッチで即座に判断させようとするため、経営者の心理抵抗が大きい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20574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大規模案件（5-10億円以上）に特化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42316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小規模案件（1-5億円）は採算性が低く敬遠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沖縄の中小企業のニーズとズレている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31089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信頼構築の時間がない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47472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商談から提案までが短期間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経営者の真のニーズや経営課題の理解が浅い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GLOWの3つの施策がそこを埋める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0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0058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段階的営業フロー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→ 電話フォロー → 訪問面談 → 関係構築3-6ヶ月 → M&amp;A提案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成約率0.5%から40-60%へ飛躍的改善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20574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3チャネル統合戦略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42316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サイト（助成金情報）→ 訪問営業（経営相談）→ 紹介ルート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最初は課題解決から入るため心理抵抗が低い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457200" cy="457200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31089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複数の出口戦略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47472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法人保険・経営相談のクロス売上で採算化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小規模案件でも複数柱で利益を確保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営業施策の比較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項目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1005840"/>
            <a:ext cx="3200400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1005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他社営業施策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0" y="1005840"/>
            <a:ext cx="3200400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1005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GLOW施策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18288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営業手法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1463040"/>
            <a:ext cx="32004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1463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+ 直接提案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1463040"/>
            <a:ext cx="32004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463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→ 電話 → 訪問 → 関係構築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92024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対象案件規模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0" y="1920240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5-10億円以上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0" y="1920240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1-5億円（小規模対応）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18288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377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信頼構築期間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0" y="2377440"/>
            <a:ext cx="32004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2377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1-2ヶ月（短い）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0" y="2377440"/>
            <a:ext cx="32004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377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3-6ヶ月（十分）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283464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成約率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0" y="2834640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0.5%程度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0" y="2834640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40-60%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291840"/>
            <a:ext cx="18288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291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初回提案内容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286000" y="3291840"/>
            <a:ext cx="32004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77440" y="3291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M&amp;Aピッチ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0" y="3291840"/>
            <a:ext cx="32004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3291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補助金・経営相談など課題解決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374904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採算性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286000" y="3749040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77440" y="3749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小規模案件は不採算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86400" y="3749040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77840" y="3749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保険・相談クロス売上で採算化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なぜGLOWがうまくいくのか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F5F5F5"/>
          </a:solidFill>
          <a:ln w="381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段階的営業フロー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直接M&amp;A提案（反応率0.5%）ではなく、3-6ヶ月の関係構築を通じて経営課題を理解した上で提案するため、成約率が40-60%に向上。経営者も「課題解決の選択肢の1つ」としてM&amp;Aを検討できる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8229600" cy="914400"/>
          </a:xfrm>
          <a:prstGeom prst="rect">
            <a:avLst/>
          </a:prstGeom>
          <a:solidFill>
            <a:srgbClr val="F5F5F5"/>
          </a:solidFill>
          <a:ln w="381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複数チャネル戦略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沖縄企業のミカタ（助成金情報）→ ゆんたく相談室（訪問）→ 紹介ルートで複数の接点を確保。最初のアプローチが「補助金」「患者獲得支援」など課題解決型のため、経営者の心理抵抗がない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solidFill>
            <a:srgbClr val="F5F5F5"/>
          </a:solidFill>
          <a:ln w="381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546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複数の出口戦略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小規模案件（1-5億円）でも保険料収入・経営相談フィーのクロス売上で採算化。他社が敬遠する小規模案件こそが、沖縄企業のニーズであり、GLOWの機会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沖縄県のギャップ市場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後継者不在65-70%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成約が進まない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GLOWが解決</a:t>
            </a:r>
            <a:endParaRPr lang="en-US" sz="16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段階的営業 ×</a:t>
            </a:r>
            <a:endParaRPr lang="en-US" sz="16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3チャネル ×</a:t>
            </a:r>
            <a:endParaRPr lang="en-US" sz="16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複数出口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0" y="914400"/>
            <a:ext cx="365760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0" y="1097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期待成果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94960" y="1645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9ヶ月で25-59件の成約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94960" y="2103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従来型の4-10倍効率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4960" y="2560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1-5億円の小規模対応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94960" y="3017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地域密着の対面営業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3474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複数収益柱の確保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2026-08-09T19:19:17Z</dcterms:created>
  <dcterms:modified xsi:type="dcterms:W3CDTF">2026-08-09T19:19:17Z</dcterms:modified>
</cp:coreProperties>
</file>