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沖縄県M&amp;A市場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GLOW営業戦略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6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市場のギャップを埋める3つの施策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市場の課題 ⇒ GLOWの施策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1005840"/>
          </a:xfrm>
          <a:prstGeom prst="round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課題①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後継者不在66%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なのに成約が進まない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657600" cy="1005840"/>
          </a:xfrm>
          <a:prstGeom prst="round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課題②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1-5億円の小規模案件が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既存業者に敬遠されている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3657600" cy="1005840"/>
          </a:xfrm>
          <a:prstGeom prst="round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課題③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親族承継志向が強く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M&amp;Aリテラシーが低い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0" y="1005840"/>
            <a:ext cx="3657600" cy="1005840"/>
          </a:xfrm>
          <a:prstGeom prst="roundRect">
            <a:avLst/>
          </a:prstGeom>
          <a:solidFill>
            <a:srgbClr val="2D9B7D"/>
          </a:solidFill>
          <a:ln w="12700">
            <a:solidFill>
              <a:srgbClr val="2D9B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0058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施策①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段階的営業フロー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信頼構築3-6ヶ月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成約率40-60%実現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0" y="2103120"/>
            <a:ext cx="3657600" cy="1005840"/>
          </a:xfrm>
          <a:prstGeom prst="roundRect">
            <a:avLst/>
          </a:prstGeom>
          <a:solidFill>
            <a:srgbClr val="2D9B7D"/>
          </a:solidFill>
          <a:ln w="12700">
            <a:solidFill>
              <a:srgbClr val="2D9B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1031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施策②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3チャネル統合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サイト・訪問・紹介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複数接点で認知確保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0" y="3200400"/>
            <a:ext cx="3657600" cy="1005840"/>
          </a:xfrm>
          <a:prstGeom prst="roundRect">
            <a:avLst/>
          </a:prstGeom>
          <a:solidFill>
            <a:srgbClr val="2D9B7D"/>
          </a:solidFill>
          <a:ln w="12700">
            <a:solidFill>
              <a:srgbClr val="2D9B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2004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施策③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複数の出口戦略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保険・経営相談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クロス売上で採算化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06240" y="1508760"/>
            <a:ext cx="731520" cy="0"/>
          </a:xfrm>
          <a:prstGeom prst="line">
            <a:avLst/>
          </a:prstGeom>
          <a:noFill/>
          <a:ln w="381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2606040"/>
            <a:ext cx="731520" cy="0"/>
          </a:xfrm>
          <a:prstGeom prst="line">
            <a:avLst/>
          </a:prstGeom>
          <a:noFill/>
          <a:ln w="381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3703320"/>
            <a:ext cx="731520" cy="0"/>
          </a:xfrm>
          <a:prstGeom prst="line">
            <a:avLst/>
          </a:prstGeom>
          <a:noFill/>
          <a:ln w="381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GLOWの施策がハマる理由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2296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段階的営業フロー ▸ DM→電話→訪問→関係構築→提案 の流れで、経営者との信頼を構築。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直接M&amp;A提案（成約率0.5%）から成約率40-60%へ飛躍的改善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82296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3チャネル統合 ▸ 補助金情報（サイト）→個別相談（訪問）→M&amp;A提案（紹介元） で、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最初の接点は「助成金」「患者獲得支援」など課題解決から入るため心理抵抗が低い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82296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複数の出口戦略 ▸ M&amp;Aだけでなく法人保険・経営相談の提案で、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小規模案件（1-5億円）でも複数の柱で採算化可能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実装スケジュール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25780" y="1188720"/>
            <a:ext cx="1920240" cy="1371600"/>
          </a:xfrm>
          <a:prstGeom prst="roundRect">
            <a:avLst/>
          </a:prstGeom>
          <a:solidFill>
            <a:srgbClr val="E6F2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5780" y="1280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2578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運用開始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578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9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月4-6社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9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訪問開始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83180" y="1188720"/>
            <a:ext cx="1920240" cy="1371600"/>
          </a:xfrm>
          <a:prstGeom prst="roundRect">
            <a:avLst/>
          </a:prstGeom>
          <a:solidFill>
            <a:srgbClr val="E6F2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83180" y="1280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8318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4ヶ月検証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8318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9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月成約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9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40580" y="1188720"/>
            <a:ext cx="1920240" cy="1371600"/>
          </a:xfrm>
          <a:prstGeom prst="roundRect">
            <a:avLst/>
          </a:prstGeom>
          <a:solidFill>
            <a:srgbClr val="E6F2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0580" y="1280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058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6ヶ月確定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4058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9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累計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9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8-12件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97980" y="1188720"/>
            <a:ext cx="1920240" cy="1371600"/>
          </a:xfrm>
          <a:prstGeom prst="roundRect">
            <a:avLst/>
          </a:prstGeom>
          <a:solidFill>
            <a:srgbClr val="E6F2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7980" y="1280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9798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最終成果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9798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9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累計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D9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25-59件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目標: 9ヶ月で 25-59件の成約獲得（従来型0.5%→段階的営業40-60%への改善）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GLOW vs 既存M&amp;A業者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286000" cy="777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対象案件規模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1097280"/>
            <a:ext cx="3017520" cy="777240"/>
          </a:xfrm>
          <a:prstGeom prst="rect">
            <a:avLst/>
          </a:prstGeom>
          <a:solidFill>
            <a:srgbClr val="2D9B7D"/>
          </a:solidFill>
          <a:ln w="12700">
            <a:solidFill>
              <a:srgbClr val="2D9B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10972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1-5億円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26480" y="1097280"/>
            <a:ext cx="256032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10972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5-10億円以上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286000" cy="777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745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営業スタイル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26080" y="1874520"/>
            <a:ext cx="3017520" cy="777240"/>
          </a:xfrm>
          <a:prstGeom prst="rect">
            <a:avLst/>
          </a:prstGeom>
          <a:solidFill>
            <a:srgbClr val="2D9B7D"/>
          </a:solidFill>
          <a:ln w="12700">
            <a:solidFill>
              <a:srgbClr val="2D9B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8745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課題解決から段階的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1874520"/>
            <a:ext cx="256032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874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直接M&amp;A提案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2286000" cy="777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51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信頼構築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926080" y="2651760"/>
            <a:ext cx="3017520" cy="777240"/>
          </a:xfrm>
          <a:prstGeom prst="rect">
            <a:avLst/>
          </a:prstGeom>
          <a:solidFill>
            <a:srgbClr val="2D9B7D"/>
          </a:solidFill>
          <a:ln w="12700">
            <a:solidFill>
              <a:srgbClr val="2D9B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26517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3-6ヶ月の関係構築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26480" y="2651760"/>
            <a:ext cx="256032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651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短期商談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2286000" cy="777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290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小規模採算性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926080" y="3429000"/>
            <a:ext cx="3017520" cy="777240"/>
          </a:xfrm>
          <a:prstGeom prst="rect">
            <a:avLst/>
          </a:prstGeom>
          <a:solidFill>
            <a:srgbClr val="2D9B7D"/>
          </a:solidFill>
          <a:ln w="12700">
            <a:solidFill>
              <a:srgbClr val="2D9B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34290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保険・相談クロス売上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26480" y="3429000"/>
            <a:ext cx="256032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4290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採算性が低い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6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沖縄県の「後継者不在66% vs 成約が進まない」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6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というギャップを、GLOWの3つの施策が埋める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71600" y="2194560"/>
            <a:ext cx="6400800" cy="1645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19456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段階的営業フロー × 3チャネル統合 × 複数出口戦略</a:t>
            </a:r>
            <a:endParaRPr lang="en-US" sz="2800" dirty="0"/>
          </a:p>
          <a:p>
            <a:pPr algn="ctr" indent="0" marL="0">
              <a:buNone/>
            </a:pP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9ヶ月で25-59件の成約獲得を実現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2026-08-09T19:01:43Z</dcterms:created>
  <dcterms:modified xsi:type="dcterms:W3CDTF">2026-08-09T19:01:43Z</dcterms:modified>
</cp:coreProperties>
</file>