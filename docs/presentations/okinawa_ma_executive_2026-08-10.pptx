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沖縄県M&amp;A市場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GLOW戦略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ギャップ市場の機会と実現戦略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沖縄県M&amp;A市場：ギャップ市場の定義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5F5F5"/>
          </a:solidFill>
          <a:ln w="381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市場の課題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後継者不安率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65-70%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（推定4,000-4,500社）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480560" y="1920240"/>
            <a:ext cx="731520" cy="0"/>
          </a:xfrm>
          <a:prstGeom prst="line">
            <a:avLst/>
          </a:prstGeom>
          <a:noFill/>
          <a:ln w="381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5F5F5"/>
          </a:solidFill>
          <a:ln w="381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市場の機会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年間成約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120-150件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（成約率2-3%）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ギャップの実相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継者不安企業4,000-4,500社に対して、実際のM&amp;A成約は年間120-150件（成約率2-3%）。つまり、ほとんどのオーナーが成約に至っていない巨大なギャップ市場である。市場規模は推定¥300-500B、成長率は+50%/3年で拡大中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なぜギャップが生まれるのか：3つの理由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0058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既存M&amp;A業者が小規模案件に対応しない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ビジネスモデルの採算性の問題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小規模案件は仲介手数料が固定費で賄えず、大型案件に特化する戦略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057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沖縄特有のリスク・文化的抵抗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4231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親族承継志向が強く、M&amp;Aリテラシーが低い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経営者の「今は大丈夫」という現状維持バイアス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1089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経営者心理の保守性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4747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トリガー発動までの準備段階で接触不足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危機が現在化して初めて検討→時間がない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沖縄のM&amp;A業者ランドスケープ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463040" cy="4114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業者名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920240" y="1188720"/>
            <a:ext cx="1645920" cy="4114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1188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対象案件規模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1188720"/>
            <a:ext cx="1280160" cy="4114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1887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報酬体系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1645920" cy="4114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88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営業スタイル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1188720"/>
            <a:ext cx="1645920" cy="4114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188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小規模対応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600200"/>
            <a:ext cx="146304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大手仲介A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1600200"/>
            <a:ext cx="16459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1600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5-50億円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66160" y="1600200"/>
            <a:ext cx="128016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16002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600200"/>
            <a:ext cx="16459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600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直接提案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92240" y="1600200"/>
            <a:ext cx="16459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600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×（採算割れ）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011680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011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地域中堅B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20240" y="201168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20116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3-20億円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66160" y="2011680"/>
            <a:ext cx="1280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2011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01168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0116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紹介ベース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92240" y="201168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20116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△（限定的）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423160"/>
            <a:ext cx="146304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2423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金融系C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20240" y="2423160"/>
            <a:ext cx="16459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65960" y="2423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2-10億円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566160" y="2423160"/>
            <a:ext cx="128016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11880" y="2423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2.5-3.5%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2423160"/>
            <a:ext cx="16459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423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取引先営業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92240" y="2423160"/>
            <a:ext cx="16459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2423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△（融資対象のみ）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2834640"/>
            <a:ext cx="1463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2834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地場小規模D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920240" y="283464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65960" y="2834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1-5億円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566160" y="2834640"/>
            <a:ext cx="1280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11880" y="2834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4-5%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46320" y="283464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834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不定期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92240" y="283464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2834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○（実績薄）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注：小規模対応 ○=対応可能／△=限定的／×=基本対応せず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なぜ既存業者は小規模案件に対応しないのか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618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採算性の壁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0" y="126187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小規模案件（¥1-5B）の仲介手数料2-3% = ¥20-150M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営業人件費（年¥8-12M）で利益なし→大型案件に特化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3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134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営業効率の最適化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231343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既存ネットワーク（金融機関・上場企業）の紹介案件に特化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新規開拓（小規模層）には営業コストがかかりすぎる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649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リスク回避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336499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小規模経営者は経営基盤が不安定→交渉が長引く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既存業者は確実性の高い大型案件に集中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GLOWの差別化：小規模案件専門 + 複数収益柱（M&amp;A + 保険 + 経営相談）で採算化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リスク要因分析：沖縄特有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0700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リスク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0" y="1188720"/>
            <a:ext cx="27432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120700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説明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109728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2070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影響度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0" y="1188720"/>
            <a:ext cx="109728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12070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66560" y="1188720"/>
            <a:ext cx="146304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12070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対策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664208"/>
            <a:ext cx="137160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682496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親族承継志向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0" y="1664208"/>
            <a:ext cx="274320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168249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オーナーの「事業は家族へ」という文化的信念が強い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0" y="1664208"/>
            <a:ext cx="109728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68249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0" y="1664208"/>
            <a:ext cx="109728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168249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66560" y="1664208"/>
            <a:ext cx="146304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68249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シナリオ提示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139696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15798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M&amp;Aリテラシー不足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0" y="213969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74520" y="2157984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経営者がM&amp;A自体の仕組みを理解していない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2139696"/>
            <a:ext cx="1097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157984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69280" y="2139696"/>
            <a:ext cx="1097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2157984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66560" y="2139696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215798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段階的教育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2615184"/>
            <a:ext cx="137160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263347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観光経済依存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828800" y="2615184"/>
            <a:ext cx="274320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74520" y="263347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インバウンド減少時の景気変動リスク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2615184"/>
            <a:ext cx="109728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2633472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69280" y="2615184"/>
            <a:ext cx="109728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2633472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66560" y="2615184"/>
            <a:ext cx="146304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12280" y="26334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シナリオプラン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3090672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1089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農業・建設高齢化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828800" y="309067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74520" y="31089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経営者の急速な高齢化→廃業タイミングの予測難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0" y="3090672"/>
            <a:ext cx="1097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310896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669280" y="3090672"/>
            <a:ext cx="1097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15000" y="310896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766560" y="3090672"/>
            <a:ext cx="1463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12280" y="31089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早期接触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リスク対策：実装戦略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親族承継志向への対抗戦略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アプローチ：「親族が引き継ぎたくない理由」のヒアリング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施策：その課題を「外部統合」で解決する提案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トリガー：患者獲得、スタッフ確保の困難を言語化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14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M&amp;Aリテラシー向上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段階的フロー：補助金情報 → 経営相談 → M&amp;A理解 → 提案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沖縄での実例3-5件を紹介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成功ストーリーで心理的抵抗を低減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490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農業・建設の早期接触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タイムリミット：今後1-2年が最後の機会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月間訪問：20-30社/月で市場開拓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優先度：建設5,539社 + 農業推定3,000+社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経営者心理メカニズム：なぜ後継者不安なのに成約しないか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矛盾の説明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128016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後継者不安65-70% ←→ 成約率2-3%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理由：「不安だが、今は大丈夫」という現状維持バイアス（心理学用語：喪失回避性、家族執着）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沖縄経営者に共通する3つのパターン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親族重視型（40-50%）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「事業は子ども・親族へ」という信念が強い。親族に相談→反対される→立ち消え。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保守型（30-40%）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変化回避、既存方法の継続を好む。「今までうまくいった」に依存。M&amp;A検討も先延ばし。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自己実現型（10-20%）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事業への執着が強く、人生＝経営者。引き継ぎ＝喪失感。「まだやれる」という過信。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M&amp;A決断のトリガー：業界別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6187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医療・介護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トリガー：患者が減少 / 医師・看護師が逃げた / 負債が増えた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心理：経営環境の急変 = 現状維持不可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タイミング：危機が現在進行形→決断が早い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82296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9631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建設業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15768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トリガー：大型工事が急減 / 下請けから外された / 若い職人が集まらない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心理：事業基盤の揺らぎ→統合で大型案件対応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タイミング：景気サイクルの悪化時期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307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農業・畜産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950208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トリガー：体力の限界 / 跡継ぎが明確に拒否 / 借金が増えた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心理：加齢とともに「続けられない」という現実認識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タイミング：経営者が65歳を超えた時期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GLOWの戦略：トリガー発動前の準備段階（信頼構築3-6ヶ月）で接触。トリガー発動時に即座に対応できる提案を用意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GLOW戦略的ポジショニング：差別化と採算性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5603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競争優位性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小規模案件専門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段階的営業フロー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沖縄特化営業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信頼構築3-6ヶ月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成約率40-60%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25603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3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25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採算モデル（1件¥1-5B案件）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【売上A】M&amp;A仲介手数料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8562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¥2-7M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02082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21854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【売上B】事前診断・相談フィー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3500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¥1-2M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5146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6791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【売上C】法人保険（3年間）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84378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¥0.5-1M/年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30083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3172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【売上D】経営相談（継続）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3375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¥0.5M/年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35021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366674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合計：¥6-15M/件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9ヶ月25-59件達成ロードマップ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4114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期間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0" y="1188720"/>
            <a:ext cx="2011680" cy="4114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1188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営業活動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0" y="1188720"/>
            <a:ext cx="1828800" cy="4114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6200" y="1188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月間新規接触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0" y="1188720"/>
            <a:ext cx="1645920" cy="4114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1188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月間成約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0" y="1188720"/>
            <a:ext cx="1371600" cy="4114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1188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累計成約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600200"/>
            <a:ext cx="1371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6002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0" y="160020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運用開始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0" y="160020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1600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月4-6社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160020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1600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0" y="1600200"/>
            <a:ext cx="1371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16002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準備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011680"/>
            <a:ext cx="1371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0116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9-10月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0" y="201168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74520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初期接触 + 信頼構築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0" y="201168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20116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月6-10社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0" y="201168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20116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0" y="2011680"/>
            <a:ext cx="1371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20116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423160"/>
            <a:ext cx="1371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2423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11月-1月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28800" y="242316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74520" y="2423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段階的営業進行中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40480" y="242316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86200" y="2423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月8-12社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0" y="2423160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2423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1-2件/月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15200" y="2423160"/>
            <a:ext cx="1371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60920" y="2423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3-6件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2834640"/>
            <a:ext cx="137160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28346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2-4月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828800" y="2834640"/>
            <a:ext cx="201168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74520" y="2834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成熟期 + 新規開拓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40480" y="2834640"/>
            <a:ext cx="182880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86200" y="2834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月12-15社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669280" y="2834640"/>
            <a:ext cx="16459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15000" y="2834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2-3件/月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15200" y="2834640"/>
            <a:ext cx="137160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60920" y="28346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25-59件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37490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実現を支える3つの要素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40080" y="39776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段階的営業フロー：DM→電話→訪問→関係構築→M&amp;A提案（成約率40-60%）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0080" y="422452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3チャネル統合：補助金情報（サイト）+ 訪問営業 + 紹介ルート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0080" y="447141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データドリブン：案件スコアリング + 業界別アプローチ最適化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結論：経営判断ポイント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市場機会のポイント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後継者不安4,000社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647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年間成約120-150件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208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成約率わずか2-3%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7685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年間成長+50%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5328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未開拓市場¥200B+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0449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既存業者は採算性で小規模対応が不可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3009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←GLOWはビジネスモデルで解決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143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投資判断ポイント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508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沖縄特有リスクは対策可能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文化理解 + 段階的営業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965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1945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経営者心理が明確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423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決断トリガー事前把握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651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880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採算モデルが実装可能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108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小規模×複数柱で利益確保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33375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566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9ヶ月25-59件の根拠明確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794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段階的営業×3チャネル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結論：GO / NO-GO の経営判断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2026-08-10T03:36:10Z</dcterms:created>
  <dcterms:modified xsi:type="dcterms:W3CDTF">2026-08-10T03:36:10Z</dcterms:modified>
</cp:coreProperties>
</file>